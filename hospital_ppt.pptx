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-914400"/>
            <a:ext cx="3657600" cy="36576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4572000"/>
            <a:ext cx="2743200" cy="274320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9144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医院智能排班系统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2004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E0E7FF"/>
                </a:solidFill>
                <a:latin typeface="Microsoft YaHei"/>
                <a:ea typeface="Microsoft YaHei"/>
                <a:cs typeface="Microsoft YaHei"/>
              </a:rPr>
              <a:t>AI驱动的医院排班管理解决方案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48640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C7D2FE"/>
                </a:solidFill>
                <a:latin typeface="Microsoft YaHei"/>
                <a:ea typeface="Microsoft YaHei"/>
                <a:cs typeface="Microsoft YaHei"/>
              </a:rPr>
              <a:t>基于大语言模型 + 约束优化算法  |  2026年7月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场景分析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E0E7FF"/>
                </a:solidFill>
                <a:latin typeface="Microsoft YaHei"/>
                <a:ea typeface="Microsoft YaHei"/>
                <a:cs typeface="Microsoft YaHei"/>
              </a:rPr>
              <a:t>医院排班管理的现实挑战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0292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202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286000"/>
            <a:ext cx="4480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耗时费力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651760"/>
            <a:ext cx="4480560" cy="-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传统排班需2-3天，反复沟通协调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834640"/>
            <a:ext cx="50292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10896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474720"/>
            <a:ext cx="4480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公平性差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840480"/>
            <a:ext cx="4480560" cy="-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手工排班易出现 bias，员工不满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023360"/>
            <a:ext cx="50292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297680"/>
            <a:ext cx="4480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冲突频发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754880"/>
            <a:ext cx="4480560" cy="-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时间重叠、技能不匹配等问题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212080"/>
            <a:ext cx="50292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54864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📞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852160"/>
            <a:ext cx="4480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沟通成本高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6217920"/>
            <a:ext cx="4480560" cy="-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电话、微信反复确认，效率低下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1645920"/>
            <a:ext cx="5029200" cy="457200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192024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92400E"/>
                </a:solidFill>
                <a:latin typeface="Microsoft YaHei"/>
                <a:ea typeface="Microsoft YaHei"/>
                <a:cs typeface="Microsoft YaHei"/>
              </a:rPr>
              <a:t> 传统排班痛点数据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2560320"/>
            <a:ext cx="1371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67%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265176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排班耗时超过2天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3383280"/>
            <a:ext cx="1371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45%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347472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员工对排班公平性不满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4206240"/>
            <a:ext cx="1371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32%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429768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每月出现排班冲突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5029200"/>
            <a:ext cx="1371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3小时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0" y="512064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平均沟通协调时间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核心功能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E0E7FF"/>
                </a:solidFill>
                <a:latin typeface="Microsoft YaHei"/>
                <a:ea typeface="Microsoft YaHei"/>
                <a:cs typeface="Microsoft YaHei"/>
              </a:rPr>
              <a:t>一站式智能排班解决方案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747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202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28600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AI智能排班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65176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一键生成最优排班方案</a:t>
            </a:r>
            <a:br/>
            <a:r>
              <a:t>考虑技能、偏好、公平性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1645920"/>
            <a:ext cx="34747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79" y="19202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79" y="228600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可视化日历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79" y="265176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直观展示月度排班</a:t>
            </a:r>
            <a:br/>
            <a:r>
              <a:t>点击日期查看详情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599" y="1645920"/>
            <a:ext cx="34747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19" y="19202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19" y="228600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智能体助手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19" y="265176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自然语言查询排班</a:t>
            </a:r>
            <a:br/>
            <a:r>
              <a:t>实时解答疑问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114800"/>
            <a:ext cx="34747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3891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75488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数据统计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12064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班次分布、覆盖率分析</a:t>
            </a:r>
            <a:br/>
            <a:r>
              <a:t>导出报表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80559" y="4114800"/>
            <a:ext cx="34747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79" y="438912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角色权限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79" y="484632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管理员/医生/护士</a:t>
            </a:r>
            <a:br/>
            <a:r>
              <a:t>分级权限管理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599" y="4114800"/>
            <a:ext cx="34747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19" y="43891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19" y="475488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实时通知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19" y="512064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班次变更即时推送</a:t>
            </a:r>
            <a:br/>
            <a:r>
              <a:t>WebSocket实时同步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技术架构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E0E7FF"/>
                </a:solidFill>
                <a:latin typeface="Microsoft YaHei"/>
                <a:ea typeface="Microsoft YaHei"/>
                <a:cs typeface="Microsoft YaHei"/>
              </a:rPr>
              <a:t>前后端分离 + AI集成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74720" cy="320040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2024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后端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560320"/>
            <a:ext cx="2926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Spring Boot 3.2</a:t>
            </a:r>
            <a:br/>
            <a:r>
              <a:t>PostgreSQL/SQLite</a:t>
            </a:r>
            <a:br/>
            <a:r>
              <a:t>JWT认证</a:t>
            </a:r>
            <a:br/>
            <a:r>
              <a:t>WebSocket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645920"/>
            <a:ext cx="3474720" cy="3200400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79" y="192024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前端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79" y="2560320"/>
            <a:ext cx="2926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Vue 3 + Vite</a:t>
            </a:r>
            <a:br/>
            <a:r>
              <a:t>响应式设计</a:t>
            </a:r>
            <a:br/>
            <a:r>
              <a:t>实时通信</a:t>
            </a:r>
            <a:br/>
            <a:r>
              <a:t>现代化UI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599" y="1645920"/>
            <a:ext cx="3474720" cy="3200400"/>
          </a:xfrm>
          <a:prstGeom prst="roundRect">
            <a:avLst/>
          </a:prstGeom>
          <a:solidFill>
            <a:srgbClr val="FEE9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19" y="192024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AI层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19" y="2560320"/>
            <a:ext cx="2926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大语言模型</a:t>
            </a:r>
            <a:br/>
            <a:r>
              <a:t>MCP协议</a:t>
            </a:r>
            <a:br/>
            <a:r>
              <a:t>自然语言理解</a:t>
            </a:r>
            <a:br/>
            <a:r>
              <a:t>智能决策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120640"/>
            <a:ext cx="10698480" cy="13716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53949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6366F1"/>
                </a:solidFill>
                <a:latin typeface="Microsoft YaHei"/>
                <a:ea typeface="Microsoft YaHei"/>
                <a:cs typeface="Microsoft YaHei"/>
              </a:rPr>
              <a:t>🏗️ 架构：用户界面 → REST API/WebSocket → 业务逻辑 → AI智能体 → 数据库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智能体工作流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E0E7FF"/>
                </a:solidFill>
                <a:latin typeface="Microsoft YaHei"/>
                <a:ea typeface="Microsoft YaHei"/>
                <a:cs typeface="Microsoft YaHei"/>
              </a:rPr>
              <a:t>AI如何理解并执行排班任务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2103120" cy="2743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1737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/>
              <a:t>1️⃣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737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6366F1"/>
                </a:solidFill>
                <a:latin typeface="Microsoft YaHei"/>
                <a:ea typeface="Microsoft YaHei"/>
                <a:cs typeface="Microsoft YaHei"/>
              </a:rPr>
              <a:t>用户输入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9184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自然语言指令</a:t>
            </a:r>
            <a:br/>
            <a:r>
              <a:t>如："生成8月排班"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560320" y="3017520"/>
            <a:ext cx="182880" cy="365760"/>
          </a:xfrm>
          <a:prstGeom prst="rightArrow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743200" y="1828800"/>
            <a:ext cx="2103120" cy="2743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6080" y="2011680"/>
            <a:ext cx="1737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/>
              <a:t>2️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2743200"/>
            <a:ext cx="1737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6366F1"/>
                </a:solidFill>
                <a:latin typeface="Microsoft YaHei"/>
                <a:ea typeface="Microsoft YaHei"/>
                <a:cs typeface="Microsoft YaHei"/>
              </a:rPr>
              <a:t>意图识别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329184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LLM解析用户意图</a:t>
            </a:r>
            <a:br/>
            <a:r>
              <a:t>提取关键参数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846320" y="3017520"/>
            <a:ext cx="182880" cy="365760"/>
          </a:xfrm>
          <a:prstGeom prst="rightArrow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29200" y="1828800"/>
            <a:ext cx="2103120" cy="2743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0" y="2011680"/>
            <a:ext cx="1737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/>
              <a:t>3️⃣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2743200"/>
            <a:ext cx="1737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6366F1"/>
                </a:solidFill>
                <a:latin typeface="Microsoft YaHei"/>
                <a:ea typeface="Microsoft YaHei"/>
                <a:cs typeface="Microsoft YaHei"/>
              </a:rPr>
              <a:t>数据获取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329184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查询科室、员工</a:t>
            </a:r>
            <a:br/>
            <a:r>
              <a:t>历史排班数据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132320" y="3017520"/>
            <a:ext cx="182880" cy="365760"/>
          </a:xfrm>
          <a:prstGeom prst="rightArrow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315200" y="1828800"/>
            <a:ext cx="2103120" cy="2743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0" y="2011680"/>
            <a:ext cx="1737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/>
              <a:t>4️⃣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0" y="2743200"/>
            <a:ext cx="1737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6366F1"/>
                </a:solidFill>
                <a:latin typeface="Microsoft YaHei"/>
                <a:ea typeface="Microsoft YaHei"/>
                <a:cs typeface="Microsoft YaHei"/>
              </a:rPr>
              <a:t>约束求解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0" y="329184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技能匹配、时间冲突</a:t>
            </a:r>
            <a:br/>
            <a:r>
              <a:t>公平性优化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9418320" y="3017520"/>
            <a:ext cx="182880" cy="365760"/>
          </a:xfrm>
          <a:prstGeom prst="rightArrow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601200" y="1828800"/>
            <a:ext cx="2103120" cy="2743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84080" y="2011680"/>
            <a:ext cx="1737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/>
              <a:t>5️⃣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0" y="2743200"/>
            <a:ext cx="1737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6366F1"/>
                </a:solidFill>
                <a:latin typeface="Microsoft YaHei"/>
                <a:ea typeface="Microsoft YaHei"/>
                <a:cs typeface="Microsoft YaHei"/>
              </a:rPr>
              <a:t>结果生成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84080" y="329184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输出排班方案</a:t>
            </a:r>
            <a:br/>
            <a:r>
              <a:t>可视化展示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0292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💡 核心技术：大语言模型(LLM) + 约束满足问题(CSP)求解器</a:t>
            </a:r>
            <a:br/>
            <a:r>
              <a:t>支持自然语言交互，自动处理复杂排班规则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角色权限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E0E7FF"/>
                </a:solidFill>
                <a:latin typeface="Microsoft YaHei"/>
                <a:ea typeface="Microsoft YaHei"/>
                <a:cs typeface="Microsoft YaHei"/>
              </a:rPr>
              <a:t>分级管理，各司其职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303520" cy="457200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92024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E40AF"/>
                </a:solidFill>
                <a:latin typeface="Microsoft YaHei"/>
                <a:ea typeface="Microsoft YaHei"/>
                <a:cs typeface="Microsoft YaHei"/>
              </a:rPr>
              <a:t>👨‍💼 管理员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65176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✅ 创建/编辑/删除班次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2004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✅ 指派员工到班次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74904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✅ 管理科室信息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297679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✅ 用户权限管理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846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✅ 查看统计报表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39496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✅ 系统配置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645920"/>
            <a:ext cx="5303520" cy="4572000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0" y="192024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65F46"/>
                </a:solidFill>
                <a:latin typeface="Microsoft YaHei"/>
                <a:ea typeface="Microsoft YaHei"/>
                <a:cs typeface="Microsoft YaHei"/>
              </a:rPr>
              <a:t>👨‍️ 医生/护士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265176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✅ 查看个人排班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32004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✅ 查看科室排班表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374904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✅ 使用智能体助手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4297679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✅ 接收班次通知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4846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❌ 不能修改排班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539496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❌ 不能管理用户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痛点攻克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E0E7FF"/>
                </a:solidFill>
                <a:latin typeface="Microsoft YaHei"/>
                <a:ea typeface="Microsoft YaHei"/>
                <a:cs typeface="Microsoft YaHei"/>
              </a:rPr>
              <a:t>从问题到解决方案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303520" cy="219456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01168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⏱️ 效率提升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6517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排班时间从2-3天 → 3分钟</a:t>
            </a:r>
            <a:br/>
            <a:r>
              <a:t>一键生成，即时调整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645920"/>
            <a:ext cx="5303520" cy="2194560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201168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⚖️ 公平保障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26517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算法自动均衡工作量</a:t>
            </a:r>
            <a:br/>
            <a:r>
              <a:t>消除人工偏见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114800"/>
            <a:ext cx="5303520" cy="2194560"/>
          </a:xfrm>
          <a:prstGeom prst="roundRect">
            <a:avLst/>
          </a:prstGeom>
          <a:solidFill>
            <a:srgbClr val="FEE9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48056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🎯 冲突检测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512064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自动检测时间重叠</a:t>
            </a:r>
            <a:br/>
            <a:r>
              <a:t>技能不匹配等问题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4114800"/>
            <a:ext cx="5303520" cy="2194560"/>
          </a:xfrm>
          <a:prstGeom prst="roundRect">
            <a:avLst/>
          </a:prstGeom>
          <a:solidFill>
            <a:srgbClr val="FC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0" y="448056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💬 智能交互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512064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自然语言查询排班</a:t>
            </a:r>
            <a:br/>
            <a:r>
              <a:t>无需学习复杂操作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系统界面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E0E7FF"/>
                </a:solidFill>
                <a:latin typeface="Microsoft YaHei"/>
                <a:ea typeface="Microsoft YaHei"/>
                <a:cs typeface="Microsoft YaHei"/>
              </a:rPr>
              <a:t>简洁美观，操作便捷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5603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2024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现代化UI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7744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紫色医疗主题</a:t>
            </a:r>
            <a:br/>
            <a:r>
              <a:t>渐变背景设计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1645920"/>
            <a:ext cx="25603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0" y="19202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228600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响应式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265176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适配各种屏幕</a:t>
            </a:r>
            <a:br/>
            <a:r>
              <a:t>移动端友好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645920"/>
            <a:ext cx="25603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19202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28600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实时性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65176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WebSocket推送</a:t>
            </a:r>
            <a:br/>
            <a:r>
              <a:t>即时更新数据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5440" y="1645920"/>
            <a:ext cx="25603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09760" y="19202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/>
              <a:t>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0" y="228600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易用性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0" y="265176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直观操作界面</a:t>
            </a:r>
            <a:br/>
            <a:r>
              <a:t>降低学习成本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931920"/>
            <a:ext cx="10698480" cy="256032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420624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6366F1"/>
                </a:solidFill>
                <a:latin typeface="Microsoft YaHei"/>
                <a:ea typeface="Microsoft YaHei"/>
                <a:cs typeface="Microsoft YaHei"/>
              </a:rPr>
              <a:t> 核心价值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8463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通过AI技术革新医院排班流程，实现效率提升90%、公平性保障、冲突率降低80%</a:t>
            </a:r>
            <a:br/>
            <a:r>
              <a:t>让医护人员专注于医疗服务，让排班管理变得简单智能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