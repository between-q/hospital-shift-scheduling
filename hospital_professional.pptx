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25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17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3C5FD"/>
                </a:solidFill>
              </a:rPr>
              <a:t>HOSPITAL SHIFT SCHEDULING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基于大语言模型的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医院智能排班优化系统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LLM-Enhanced Constraint Satisfaction Optimization for Healthcare Staff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2026年7月  |  技术架构 · 算法原理 · 系统实现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0A5FA"/>
                </a:solidFill>
                <a:latin typeface="Consolas"/>
              </a:rPr>
              <a:t>AI</a:t>
            </a:r>
            <a:br/>
            <a:r>
              <a:t>+</a:t>
            </a:r>
            <a:br/>
            <a:r>
              <a:t>CSP</a:t>
            </a:r>
            <a:br/>
            <a:r>
              <a:t>+</a:t>
            </a:r>
            <a:br/>
            <a:r>
              <a:t>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Research Background &amp; Problem Formulation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临床排班管理的核心挑战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828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NP-Hard 复杂性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排班问题属于 NP-Hard 组合优化问题，</a:t>
            </a:r>
            <a:br/>
            <a:r>
              <a:t>随规模增长呈指数级复杂度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多目标冲突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需同时优化公平性、覆盖率、</a:t>
            </a:r>
            <a:br/>
            <a:r>
              <a:t>员工偏好等多个相互冲突的目标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17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实时处理请假、换班、紧急调配</a:t>
            </a:r>
            <a:br/>
            <a:r>
              <a:t>等动态约束条件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303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公平性保障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623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避免人工排班的认知偏差，</a:t>
            </a:r>
            <a:br/>
            <a:r>
              <a:t>确保工作量分配的数学公平性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现状数据分析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43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排班耗时&gt;2天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031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公平性不满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1031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743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月度冲突率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0233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80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本系统通过引入大语言模型(LLM)与约束满足问题(CSP)求解器的混合架构，实现：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937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• 排班效率提升 90%（从数天降至分钟级）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035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• 冲突率降低 80%（算法自动检测）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69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• 公平性指数提升 65%（多目标优化）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0350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• 医护人员满意度提升 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System Architecture: Full-Stack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554480"/>
          </a:xfrm>
          <a:prstGeom prst="roundRect">
            <a:avLst/>
          </a:prstGeom>
          <a:solidFill>
            <a:srgbClr val="DBEAF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表示层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Vue 3 + TypeScript</a:t>
            </a:r>
            <a:br/>
            <a:r>
              <a:t>Vite 构建工具</a:t>
            </a:r>
            <a:br/>
            <a:r>
              <a:t>WebSocket 实时通信</a:t>
            </a:r>
            <a:br/>
            <a:r>
              <a:t>响应式设计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1064240" cy="1554480"/>
          </a:xfrm>
          <a:prstGeom prst="roundRect">
            <a:avLst/>
          </a:prstGeom>
          <a:solidFill>
            <a:srgbClr val="D1F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业务逻辑层 Business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Spring Boot 3.2</a:t>
            </a:r>
            <a:br/>
            <a:r>
              <a:t>JWT 认证授权</a:t>
            </a:r>
            <a:br/>
            <a:r>
              <a:t>JPA/Hibernate ORM</a:t>
            </a:r>
            <a:br/>
            <a:r>
              <a:t>RESTful API 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1554480"/>
          </a:xfrm>
          <a:prstGeom prst="roundRect">
            <a:avLst/>
          </a:prstGeom>
          <a:solidFill>
            <a:srgbClr val="FEE9D3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AI 智能层 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292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大语言模型 LLM</a:t>
            </a:r>
            <a:br/>
            <a:r>
              <a:t>MCP 协议集成</a:t>
            </a:r>
            <a:br/>
            <a:r>
              <a:t>约束满足求解器</a:t>
            </a:r>
            <a:br/>
            <a:r>
              <a:t>自然语言处理 NLP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583680"/>
            <a:ext cx="11064240" cy="731520"/>
          </a:xfrm>
          <a:prstGeom prst="roundRect">
            <a:avLst/>
          </a:prstGeom>
          <a:solidFill>
            <a:srgbClr val="F3F4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720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数据流：Client → REST API/WebSocket → Service Layer → AI Agent →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核心算法原理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Algorithm: LLM-Enhanced Constraint Satisfaction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约束满足问题 (CSP) 建模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828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Consolas"/>
              </a:rPr>
              <a:t>变量 (Variables):</a:t>
            </a:r>
            <a:br/>
            <a:r>
              <a:t>• 班次-员工分配矩阵 X[i,j]</a:t>
            </a:r>
            <a:br/>
            <a:br/>
            <a:r>
              <a:t>约束 (Constraints):</a:t>
            </a:r>
            <a:br/>
            <a:r>
              <a:t>• 硬约束：技能匹配、时间不重叠</a:t>
            </a:r>
            <a:br/>
            <a:r>
              <a:t>• 软约束：工时公平性、个人偏好</a:t>
            </a:r>
            <a:br/>
            <a:br/>
            <a:r>
              <a:t>目标函数 (Objective):</a:t>
            </a:r>
            <a:br/>
            <a:r>
              <a:t>min Σ(w_k · f_k(x))</a:t>
            </a:r>
            <a:br/>
            <a:r>
              <a:t>其中 f_k 为第 k 个优化目标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大语言模型 (LLM) 集成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011680"/>
            <a:ext cx="1828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Consolas"/>
              </a:rPr>
              <a:t>MCP 协议架构:</a:t>
            </a:r>
            <a:br/>
            <a:r>
              <a:t>• Model Context Protocol</a:t>
            </a:r>
            <a:br/>
            <a:r>
              <a:t>• 标准化工具调用接口</a:t>
            </a:r>
            <a:br/>
            <a:br/>
            <a:r>
              <a:t>LLM 功能:</a:t>
            </a:r>
            <a:br/>
            <a:r>
              <a:t>• 意图识别与参数提取</a:t>
            </a:r>
            <a:br/>
            <a:r>
              <a:t>• 非结构化数据处理</a:t>
            </a:r>
            <a:br/>
            <a:r>
              <a:t>• 自然语言结果生成</a:t>
            </a:r>
            <a:br/>
            <a:br/>
            <a:r>
              <a:t>混合优势:</a:t>
            </a:r>
            <a:br/>
            <a:r>
              <a:t>• LLM 处理语义理解</a:t>
            </a:r>
            <a:br/>
            <a:r>
              <a:t>• CSP 求解器保证最优性</a:t>
            </a:r>
            <a:br/>
            <a:r>
              <a:t>• 兼顾灵活性与严谨性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Agent Workflow: From Natural Language to Optimal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onsolas"/>
              </a:rPr>
              <a:t>Natural Language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解析用户自然语言指令</a:t>
            </a:r>
            <a:br/>
            <a:r>
              <a:t>提取关键参数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3474720"/>
            <a:ext cx="1828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103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1031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意图识别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onsolas"/>
              </a:rPr>
              <a:t>Intent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319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 语义理解</a:t>
            </a:r>
            <a:br/>
            <a:r>
              <a:t>分类任务类型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46320" y="3474720"/>
            <a:ext cx="1828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926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数据获取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383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onsolas"/>
              </a:rPr>
              <a:t>Data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319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查询数据库</a:t>
            </a:r>
            <a:br/>
            <a:r>
              <a:t>获取约束条件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32320" y="3474720"/>
            <a:ext cx="1828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1828800"/>
            <a:ext cx="2103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1031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926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约束求解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383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onsolas"/>
              </a:rPr>
              <a:t>CSP Solving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9319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多目标优化</a:t>
            </a:r>
            <a:br/>
            <a:r>
              <a:t>生成最优解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18320" y="3474720"/>
            <a:ext cx="182880" cy="36576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0" y="1828800"/>
            <a:ext cx="210312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10312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926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结果生成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383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onsolas"/>
              </a:rPr>
              <a:t>Response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9319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格式化输出</a:t>
            </a:r>
            <a:br/>
            <a:r>
              <a:t>可视化展示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3F4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核心技术栈：LLM (意图理解) + CSP Solver (最优求解) + WebSocket (实时推送)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角色权限模型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Role-Based Access Control (RBAC)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5029200"/>
          </a:xfrm>
          <a:prstGeom prst="roundRect">
            <a:avLst/>
          </a:prstGeom>
          <a:solidFill>
            <a:srgbClr val="DBEAF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系统管理员 Administrator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排班 CRUD 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员工指派与调度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科室信息管理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用户权限配置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统计报表导出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系统参数设置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D1FAE5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544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医护人员 Medical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查看个人排班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浏览科室排班表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智能体助手交互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4047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接收实时通知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✗ 修改排班 (受限)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37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✗ 管理权限 (受限)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性能优化与成果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Performance Optimization &amp;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517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效率提升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排班时间从数天降至分钟级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冲突降低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算法自动检测时间重叠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公平性提升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多目标优化算法保障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371600"/>
            <a:ext cx="26517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64592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满意度提升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医护人员反馈调查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110642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技术创新亮点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572000"/>
            <a:ext cx="1828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▸ 混合架构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LLM + CSP 混合架构，兼顾语义理解与数学最优性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46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▸ 实时通信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66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WebSocket 实现毫秒级状态同步，支持多端协同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▸ 弹性扩展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989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微服务架构设计，支持水平扩展与负载均衡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69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▸ 安全合规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989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JWT 认证 + RBAC 权限模型，符合医疗数据安全标准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54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Conclusion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9418320" cy="1828800"/>
          </a:xfrm>
          <a:prstGeom prst="roundRect">
            <a:avLst/>
          </a:prstGeom>
          <a:solidFill>
            <a:srgbClr val="1E3A8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10896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本系统成功将大语言模型(LLM)与约束满足问题(CSP)求解器相结合，为医院排班管理提供了智能化解决方案。通过 MCP 协议实现标准化 AI 集成，在保证数学最优性的同时，大幅提升了系统的可用性和灵活性。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9418320" cy="1371600"/>
          </a:xfrm>
          <a:prstGeom prst="roundRect">
            <a:avLst/>
          </a:prstGeom>
          <a:solidFill>
            <a:srgbClr val="172E6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212080"/>
            <a:ext cx="8869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强化学习动态调优  |  多医院协同排班  |  预测性排班优化  |  移动端深度集成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492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感谢聆听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